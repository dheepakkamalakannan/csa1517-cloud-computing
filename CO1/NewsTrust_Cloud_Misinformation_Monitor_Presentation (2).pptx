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data analytics is optional, but a thoughtful data path is expected.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 should be specific and inspectable, not a generic list of tools.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" name="Shape 3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ending should synthesize learning, not just say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4" name="CO1 AT3 | 0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01</a:t>
            </a:r>
          </a:p>
        </p:txBody>
      </p:sp>
      <p:sp>
        <p:nvSpPr>
          <p:cNvPr id="2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" name="CSA15 Cloud Computing and Big Data Analytics"/>
          <p:cNvSpPr txBox="1"/>
          <p:nvPr/>
        </p:nvSpPr>
        <p:spPr>
          <a:xfrm>
            <a:off x="769619" y="914400"/>
            <a:ext cx="6671312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600" b="1">
                <a:solidFill>
                  <a:srgbClr val="1F4E79"/>
                </a:solidFill>
              </a:defRPr>
            </a:lvl1pPr>
          </a:lstStyle>
          <a:p>
            <a:r>
              <a:t>CSA15 Cloud Computing and Big Data Analytics</a:t>
            </a:r>
          </a:p>
        </p:txBody>
      </p:sp>
      <p:sp>
        <p:nvSpPr>
          <p:cNvPr id="27" name="Capstone Cloud Technical Presentation"/>
          <p:cNvSpPr txBox="1"/>
          <p:nvPr/>
        </p:nvSpPr>
        <p:spPr>
          <a:xfrm>
            <a:off x="769619" y="2152650"/>
            <a:ext cx="667131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200" b="1">
                <a:solidFill>
                  <a:srgbClr val="2F6690"/>
                </a:solidFill>
              </a:defRPr>
            </a:lvl1pPr>
          </a:lstStyle>
          <a:p>
            <a:r>
              <a:t>Capstone Cloud Technical Presentation</a:t>
            </a:r>
          </a:p>
        </p:txBody>
      </p:sp>
      <p:sp>
        <p:nvSpPr>
          <p:cNvPr id="28" name="Individual Student Presentation Deck"/>
          <p:cNvSpPr txBox="1"/>
          <p:nvPr/>
        </p:nvSpPr>
        <p:spPr>
          <a:xfrm>
            <a:off x="769619" y="2762250"/>
            <a:ext cx="581406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4155"/>
                </a:solidFill>
              </a:defRPr>
            </a:lvl1pPr>
          </a:lstStyle>
          <a:p>
            <a:r>
              <a:t>Individual Student Presentation Deck</a:t>
            </a:r>
          </a:p>
        </p:txBody>
      </p:sp>
      <p:sp>
        <p:nvSpPr>
          <p:cNvPr id="29" name="Presenter Details-panel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resenter Details-bar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resenter Details"/>
          <p:cNvSpPr txBox="1"/>
          <p:nvPr/>
        </p:nvSpPr>
        <p:spPr>
          <a:xfrm>
            <a:off x="7741919" y="1333500"/>
            <a:ext cx="3280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Presenter Details</a:t>
            </a:r>
          </a:p>
        </p:txBody>
      </p:sp>
      <p:sp>
        <p:nvSpPr>
          <p:cNvPr id="32" name="Student Name:…"/>
          <p:cNvSpPr txBox="1"/>
          <p:nvPr/>
        </p:nvSpPr>
        <p:spPr>
          <a:xfrm>
            <a:off x="7741919" y="1733550"/>
            <a:ext cx="3280412" cy="1274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t>Student Name: Dheepak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Register Number: 192411108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Class / Section / Slot: Slot C CSA1517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Capstone Title: NewsTrust - Cloud Misinformation Monitor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Selected SDG Goal(s): SDG 16 - Peace, Justice &amp; Strong Institutions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Cloud Platform / Tools: AWS EC2, S3, Lambda + Python NLP (BERT)</a:t>
            </a:r>
          </a:p>
        </p:txBody>
      </p:sp>
      <p:sp>
        <p:nvSpPr>
          <p:cNvPr id="33" name="Presentation Focus-panel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resentation Focus-bar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resentation Focus"/>
          <p:cNvSpPr txBox="1"/>
          <p:nvPr/>
        </p:nvSpPr>
        <p:spPr>
          <a:xfrm>
            <a:off x="941069" y="3905250"/>
            <a:ext cx="575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Focus</a:t>
            </a:r>
          </a:p>
        </p:txBody>
      </p:sp>
      <p:sp>
        <p:nvSpPr>
          <p:cNvPr id="36" name="Present your capstone as a cloud-backed product. Explain the problem, architecture, service choices, evidence, and CO1 learning clearly."/>
          <p:cNvSpPr txBox="1"/>
          <p:nvPr/>
        </p:nvSpPr>
        <p:spPr>
          <a:xfrm>
            <a:off x="941069" y="4305300"/>
            <a:ext cx="575691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72033"/>
                </a:solidFill>
              </a:defRPr>
            </a:lvl1pPr>
          </a:lstStyle>
          <a:p>
            <a:r>
              <a:t>Present your capstone as a cloud-backed product. Explain the problem, architecture, service choices, evidence, and CO1 learning clearly.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46" name="CO1 AT3 | 0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02</a:t>
            </a:r>
          </a:p>
        </p:txBody>
      </p:sp>
      <p:sp>
        <p:nvSpPr>
          <p:cNvPr id="47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Problem Context and Stakeholder Mapping</a:t>
            </a:r>
          </a:p>
        </p:txBody>
      </p:sp>
      <p:sp>
        <p:nvSpPr>
          <p:cNvPr id="48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capstone begins with a real problem to solve</a:t>
            </a:r>
          </a:p>
        </p:txBody>
      </p:sp>
      <p:sp>
        <p:nvSpPr>
          <p:cNvPr id="49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50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roblem Statement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53" name="What real-world problem does the product solve?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Fake news and misinformation spread faster than fact-checkers can verify it.</a:t>
            </a:r>
          </a:p>
        </p:txBody>
      </p:sp>
      <p:sp>
        <p:nvSpPr>
          <p:cNvPr id="54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Target User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Target Users</a:t>
            </a:r>
          </a:p>
        </p:txBody>
      </p:sp>
      <p:sp>
        <p:nvSpPr>
          <p:cNvPr id="57" name="Who will use the product and what changes for them?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Readers, journalists and moderators get an instant NLP credibility score before sharing.</a:t>
            </a:r>
          </a:p>
        </p:txBody>
      </p:sp>
      <p:sp>
        <p:nvSpPr>
          <p:cNvPr id="58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SDG Fi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SDG Fit</a:t>
            </a:r>
          </a:p>
        </p:txBody>
      </p:sp>
      <p:sp>
        <p:nvSpPr>
          <p:cNvPr id="61" name="Which SDG goal is connected to the capstone outcome?"/>
          <p:cNvSpPr txBox="1"/>
          <p:nvPr/>
        </p:nvSpPr>
        <p:spPr>
          <a:xfrm>
            <a:off x="9982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SDG 16: Peace, Justice and Strong Institutions - reliable public information.</a:t>
            </a:r>
          </a:p>
        </p:txBody>
      </p:sp>
      <p:sp>
        <p:nvSpPr>
          <p:cNvPr id="62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roduct Boundary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Boundary</a:t>
            </a:r>
          </a:p>
        </p:txBody>
      </p:sp>
      <p:sp>
        <p:nvSpPr>
          <p:cNvPr id="65" name="What is included in the first usable version?"/>
          <p:cNvSpPr txBox="1"/>
          <p:nvPr/>
        </p:nvSpPr>
        <p:spPr>
          <a:xfrm>
            <a:off x="64084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Submit a URL/text, get a credibility score, bias flag and shareable trust report.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7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75" name="CO1 AT3 | 03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03</a:t>
            </a:r>
          </a:p>
        </p:txBody>
      </p:sp>
      <p:sp>
        <p:nvSpPr>
          <p:cNvPr id="76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Adoption Rationale and Concept Map</a:t>
            </a:r>
          </a:p>
        </p:txBody>
      </p:sp>
      <p:sp>
        <p:nvSpPr>
          <p:cNvPr id="77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problem needs cloud support to become a usable product</a:t>
            </a:r>
          </a:p>
        </p:txBody>
      </p:sp>
      <p:sp>
        <p:nvSpPr>
          <p:cNvPr id="78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79" name="Cloud Definition-panel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Cloud Definition-bar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Cloud Definition"/>
          <p:cNvSpPr txBox="1"/>
          <p:nvPr/>
        </p:nvSpPr>
        <p:spPr>
          <a:xfrm>
            <a:off x="941069" y="17907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Definition</a:t>
            </a:r>
          </a:p>
        </p:txBody>
      </p:sp>
      <p:sp>
        <p:nvSpPr>
          <p:cNvPr id="82" name="Define cloud using your capstone context."/>
          <p:cNvSpPr txBox="1"/>
          <p:nvPr/>
        </p:nvSpPr>
        <p:spPr>
          <a:xfrm>
            <a:off x="941069" y="2190750"/>
            <a:ext cx="4328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On-demand compute that runs NewsTrust NLP models and serves scores at scale.</a:t>
            </a:r>
          </a:p>
        </p:txBody>
      </p:sp>
      <p:sp>
        <p:nvSpPr>
          <p:cNvPr id="83" name="Cloud Characteristics-panel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Cloud Characteristics-bar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Cloud Characteristics"/>
          <p:cNvSpPr txBox="1"/>
          <p:nvPr/>
        </p:nvSpPr>
        <p:spPr>
          <a:xfrm>
            <a:off x="941069" y="34290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Characteristics</a:t>
            </a:r>
          </a:p>
        </p:txBody>
      </p:sp>
      <p:sp>
        <p:nvSpPr>
          <p:cNvPr id="86" name="Elasticity, scalability, measured service, resource pooling."/>
          <p:cNvSpPr txBox="1"/>
          <p:nvPr/>
        </p:nvSpPr>
        <p:spPr>
          <a:xfrm>
            <a:off x="941069" y="3829050"/>
            <a:ext cx="4328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Auto-scales during breaking-news spikes; pay-per-inference GPU/CPU pooling.</a:t>
            </a:r>
          </a:p>
        </p:txBody>
      </p:sp>
      <p:sp>
        <p:nvSpPr>
          <p:cNvPr id="87" name="Cloud Concept Map-placeholder"/>
          <p:cNvSpPr/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" name="Cloud Concept Map"/>
          <p:cNvSpPr txBox="1"/>
          <p:nvPr/>
        </p:nvSpPr>
        <p:spPr>
          <a:xfrm>
            <a:off x="6351269" y="1771650"/>
            <a:ext cx="43281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Cloud Concept Map</a:t>
            </a:r>
          </a:p>
        </p:txBody>
      </p:sp>
      <p:sp>
        <p:nvSpPr>
          <p:cNvPr id="89" name="Place a clean concept map that links cloud ecosystem, API role, service models, elasticity, and your capstone modules."/>
          <p:cNvSpPr txBox="1"/>
          <p:nvPr/>
        </p:nvSpPr>
        <p:spPr>
          <a:xfrm>
            <a:off x="6351269" y="2190750"/>
            <a:ext cx="43281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r>
              <a:t>News URL/Text -&gt; API Gateway -&gt; NLP Credibility Engine (BERT) -&gt; Score Database -&gt; Trust Dashboard / Browser Extension. Elastic compute scales the engine during high-traffic news events.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9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99" name="CO1 AT3 | 04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04</a:t>
            </a:r>
          </a:p>
        </p:txBody>
      </p:sp>
      <p:sp>
        <p:nvSpPr>
          <p:cNvPr id="10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Capstone Cloud Architecture</a:t>
            </a:r>
          </a:p>
        </p:txBody>
      </p:sp>
      <p:sp>
        <p:nvSpPr>
          <p:cNvPr id="10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cloud architecture connects the user action to services</a:t>
            </a:r>
          </a:p>
        </p:txBody>
      </p:sp>
      <p:sp>
        <p:nvSpPr>
          <p:cNvPr id="10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03" name="node-User App / Web App"/>
          <p:cNvSpPr/>
          <p:nvPr/>
        </p:nvSpPr>
        <p:spPr>
          <a:xfrm>
            <a:off x="104775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User App / Web App"/>
          <p:cNvSpPr txBox="1"/>
          <p:nvPr/>
        </p:nvSpPr>
        <p:spPr>
          <a:xfrm>
            <a:off x="1207769" y="2333625"/>
            <a:ext cx="148971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User App / Web App</a:t>
            </a:r>
          </a:p>
        </p:txBody>
      </p:sp>
      <p:sp>
        <p:nvSpPr>
          <p:cNvPr id="105" name="node-Auth + API Gateway"/>
          <p:cNvSpPr/>
          <p:nvPr/>
        </p:nvSpPr>
        <p:spPr>
          <a:xfrm>
            <a:off x="347662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6" name="Auth + API Gateway"/>
          <p:cNvSpPr txBox="1"/>
          <p:nvPr/>
        </p:nvSpPr>
        <p:spPr>
          <a:xfrm>
            <a:off x="3636644" y="2333625"/>
            <a:ext cx="14897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Auth + API Gateway</a:t>
            </a:r>
          </a:p>
        </p:txBody>
      </p:sp>
      <p:sp>
        <p:nvSpPr>
          <p:cNvPr id="107" name="node-Backend Services"/>
          <p:cNvSpPr/>
          <p:nvPr/>
        </p:nvSpPr>
        <p:spPr>
          <a:xfrm>
            <a:off x="590550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8" name="Backend Services"/>
          <p:cNvSpPr txBox="1"/>
          <p:nvPr/>
        </p:nvSpPr>
        <p:spPr>
          <a:xfrm>
            <a:off x="6065519" y="2333625"/>
            <a:ext cx="14897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Backend Services</a:t>
            </a:r>
          </a:p>
        </p:txBody>
      </p:sp>
      <p:sp>
        <p:nvSpPr>
          <p:cNvPr id="109" name="node-Database / Storage"/>
          <p:cNvSpPr/>
          <p:nvPr/>
        </p:nvSpPr>
        <p:spPr>
          <a:xfrm>
            <a:off x="833437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Database / Storage"/>
          <p:cNvSpPr txBox="1"/>
          <p:nvPr/>
        </p:nvSpPr>
        <p:spPr>
          <a:xfrm>
            <a:off x="8494394" y="2333625"/>
            <a:ext cx="14897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Database / Storage</a:t>
            </a:r>
          </a:p>
        </p:txBody>
      </p:sp>
      <p:sp>
        <p:nvSpPr>
          <p:cNvPr id="111" name="node-Analytics + Monitoring"/>
          <p:cNvSpPr/>
          <p:nvPr/>
        </p:nvSpPr>
        <p:spPr>
          <a:xfrm>
            <a:off x="5905500" y="37147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Analytics + Monitoring"/>
          <p:cNvSpPr txBox="1"/>
          <p:nvPr/>
        </p:nvSpPr>
        <p:spPr>
          <a:xfrm>
            <a:off x="6065519" y="3952875"/>
            <a:ext cx="148971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Analytics + Monitoring</a:t>
            </a:r>
          </a:p>
        </p:txBody>
      </p:sp>
      <p:sp>
        <p:nvSpPr>
          <p:cNvPr id="113" name="connector-0"/>
          <p:cNvSpPr/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connector-1"/>
          <p:cNvSpPr/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connector-2"/>
          <p:cNvSpPr/>
          <p:nvPr/>
        </p:nvSpPr>
        <p:spPr>
          <a:xfrm>
            <a:off x="771525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connector-3"/>
          <p:cNvSpPr/>
          <p:nvPr/>
        </p:nvSpPr>
        <p:spPr>
          <a:xfrm>
            <a:off x="6781800" y="2895600"/>
            <a:ext cx="19050" cy="8191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Scaling point"/>
          <p:cNvSpPr txBox="1"/>
          <p:nvPr/>
        </p:nvSpPr>
        <p:spPr>
          <a:xfrm>
            <a:off x="5951219" y="1733550"/>
            <a:ext cx="171831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334155"/>
                </a:solidFill>
              </a:defRPr>
            </a:lvl1pPr>
          </a:lstStyle>
          <a:p>
            <a:r>
              <a:t>Scaling point</a:t>
            </a:r>
          </a:p>
        </p:txBody>
      </p:sp>
      <p:sp>
        <p:nvSpPr>
          <p:cNvPr id="118" name="Security boundary"/>
          <p:cNvSpPr txBox="1"/>
          <p:nvPr/>
        </p:nvSpPr>
        <p:spPr>
          <a:xfrm>
            <a:off x="3522344" y="3067050"/>
            <a:ext cx="6576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r>
              <a:t>Security boundary</a:t>
            </a:r>
          </a:p>
        </p:txBody>
      </p:sp>
      <p:sp>
        <p:nvSpPr>
          <p:cNvPr id="119" name="security-line"/>
          <p:cNvSpPr/>
          <p:nvPr/>
        </p:nvSpPr>
        <p:spPr>
          <a:xfrm>
            <a:off x="3286125" y="3333750"/>
            <a:ext cx="7048500" cy="19050"/>
          </a:xfrm>
          <a:prstGeom prst="rect">
            <a:avLst/>
          </a:prstGeom>
          <a:solidFill>
            <a:srgbClr val="B7C9D9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Presentation Points-panel"/>
          <p:cNvSpPr/>
          <p:nvPr/>
        </p:nvSpPr>
        <p:spPr>
          <a:xfrm>
            <a:off x="8858250" y="1581150"/>
            <a:ext cx="2381250" cy="3200400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Presentation Points-bar"/>
          <p:cNvSpPr/>
          <p:nvPr/>
        </p:nvSpPr>
        <p:spPr>
          <a:xfrm>
            <a:off x="8858250" y="1581150"/>
            <a:ext cx="238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resentation Points"/>
          <p:cNvSpPr txBox="1"/>
          <p:nvPr/>
        </p:nvSpPr>
        <p:spPr>
          <a:xfrm>
            <a:off x="9075419" y="1771650"/>
            <a:ext cx="194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Points</a:t>
            </a:r>
          </a:p>
        </p:txBody>
      </p:sp>
      <p:sp>
        <p:nvSpPr>
          <p:cNvPr id="123" name="Request path…"/>
          <p:cNvSpPr txBox="1"/>
          <p:nvPr/>
        </p:nvSpPr>
        <p:spPr>
          <a:xfrm>
            <a:off x="9075419" y="2171700"/>
            <a:ext cx="1946912" cy="1274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t>Request path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API role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Compute choice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Database and storage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Monitoring and security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t>Scaling point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33" name="CO1 AT3 | 05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05</a:t>
            </a:r>
          </a:p>
        </p:txBody>
      </p:sp>
      <p:sp>
        <p:nvSpPr>
          <p:cNvPr id="134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Service Model Responsibility Matrix</a:t>
            </a:r>
          </a:p>
        </p:txBody>
      </p:sp>
      <p:sp>
        <p:nvSpPr>
          <p:cNvPr id="135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Each service model defines what we control and what cloud manages</a:t>
            </a:r>
          </a:p>
        </p:txBody>
      </p:sp>
      <p:sp>
        <p:nvSpPr>
          <p:cNvPr id="136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37" name="matrix-h-0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Service area"/>
          <p:cNvSpPr txBox="1"/>
          <p:nvPr/>
        </p:nvSpPr>
        <p:spPr>
          <a:xfrm>
            <a:off x="845819" y="1971675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Service area</a:t>
            </a:r>
          </a:p>
        </p:txBody>
      </p:sp>
      <p:sp>
        <p:nvSpPr>
          <p:cNvPr id="139" name="matrix-h-1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Model"/>
          <p:cNvSpPr txBox="1"/>
          <p:nvPr/>
        </p:nvSpPr>
        <p:spPr>
          <a:xfrm>
            <a:off x="2560319" y="1971675"/>
            <a:ext cx="899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Model</a:t>
            </a:r>
          </a:p>
        </p:txBody>
      </p:sp>
      <p:sp>
        <p:nvSpPr>
          <p:cNvPr id="141" name="matrix-h-2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rovider manages"/>
          <p:cNvSpPr txBox="1"/>
          <p:nvPr/>
        </p:nvSpPr>
        <p:spPr>
          <a:xfrm>
            <a:off x="3703319" y="1971675"/>
            <a:ext cx="2042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Provider manages</a:t>
            </a:r>
          </a:p>
        </p:txBody>
      </p:sp>
      <p:sp>
        <p:nvSpPr>
          <p:cNvPr id="143" name="matrix-h-3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Student team manages"/>
          <p:cNvSpPr txBox="1"/>
          <p:nvPr/>
        </p:nvSpPr>
        <p:spPr>
          <a:xfrm>
            <a:off x="5989319" y="1971675"/>
            <a:ext cx="213741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Student team manages</a:t>
            </a:r>
          </a:p>
        </p:txBody>
      </p:sp>
      <p:sp>
        <p:nvSpPr>
          <p:cNvPr id="145" name="matrix-h-4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6" name="Why this fits"/>
          <p:cNvSpPr txBox="1"/>
          <p:nvPr/>
        </p:nvSpPr>
        <p:spPr>
          <a:xfrm>
            <a:off x="8370569" y="1971675"/>
            <a:ext cx="2232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Why this fits</a:t>
            </a:r>
          </a:p>
        </p:txBody>
      </p:sp>
      <p:sp>
        <p:nvSpPr>
          <p:cNvPr id="147" name="matrix-0-0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Frontend hosting"/>
          <p:cNvSpPr txBox="1"/>
          <p:nvPr/>
        </p:nvSpPr>
        <p:spPr>
          <a:xfrm>
            <a:off x="845819" y="24574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Frontend hosting</a:t>
            </a:r>
          </a:p>
        </p:txBody>
      </p:sp>
      <p:sp>
        <p:nvSpPr>
          <p:cNvPr id="149" name="matrix-0-1"/>
          <p:cNvSpPr/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SaaS</a:t>
            </a:r>
          </a:p>
        </p:txBody>
      </p:sp>
      <p:sp>
        <p:nvSpPr>
          <p:cNvPr id="150" name="matrix-0-2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Hosting, CDN, TLS certs</a:t>
            </a:r>
          </a:p>
        </p:txBody>
      </p:sp>
      <p:sp>
        <p:nvSpPr>
          <p:cNvPr id="151" name="matrix-0-3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UI code, content updates</a:t>
            </a:r>
          </a:p>
        </p:txBody>
      </p:sp>
      <p:sp>
        <p:nvSpPr>
          <p:cNvPr id="152" name="matrix-0-4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Fast, low-ops reader dashboard delivery</a:t>
            </a:r>
          </a:p>
        </p:txBody>
      </p:sp>
      <p:sp>
        <p:nvSpPr>
          <p:cNvPr id="153" name="matrix-1-0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Backend/API"/>
          <p:cNvSpPr txBox="1"/>
          <p:nvPr/>
        </p:nvSpPr>
        <p:spPr>
          <a:xfrm>
            <a:off x="845819" y="29527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Backend/API</a:t>
            </a:r>
          </a:p>
        </p:txBody>
      </p:sp>
      <p:sp>
        <p:nvSpPr>
          <p:cNvPr id="155" name="matrix-1-1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PaaS</a:t>
            </a:r>
          </a:p>
        </p:txBody>
      </p:sp>
      <p:sp>
        <p:nvSpPr>
          <p:cNvPr id="156" name="matrix-1-2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Runtime, scaling, patching</a:t>
            </a:r>
          </a:p>
        </p:txBody>
      </p:sp>
      <p:sp>
        <p:nvSpPr>
          <p:cNvPr id="157" name="matrix-1-3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API logic, NLP scoring code</a:t>
            </a:r>
          </a:p>
        </p:txBody>
      </p:sp>
      <p:sp>
        <p:nvSpPr>
          <p:cNvPr id="158" name="matrix-1-4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Focus stays on scoring logic, not servers</a:t>
            </a:r>
          </a:p>
        </p:txBody>
      </p:sp>
      <p:sp>
        <p:nvSpPr>
          <p:cNvPr id="159" name="matrix-2-0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Database"/>
          <p:cNvSpPr txBox="1"/>
          <p:nvPr/>
        </p:nvSpPr>
        <p:spPr>
          <a:xfrm>
            <a:off x="845819" y="34480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161" name="matrix-2-1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DBaaS</a:t>
            </a:r>
          </a:p>
        </p:txBody>
      </p:sp>
      <p:sp>
        <p:nvSpPr>
          <p:cNvPr id="162" name="matrix-2-2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Backups, replication, uptime</a:t>
            </a:r>
          </a:p>
        </p:txBody>
      </p:sp>
      <p:sp>
        <p:nvSpPr>
          <p:cNvPr id="163" name="matrix-2-3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Schema design, queries</a:t>
            </a:r>
          </a:p>
        </p:txBody>
      </p:sp>
      <p:sp>
        <p:nvSpPr>
          <p:cNvPr id="164" name="matrix-2-4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Reliable storage for articles and scores</a:t>
            </a:r>
          </a:p>
        </p:txBody>
      </p:sp>
      <p:sp>
        <p:nvSpPr>
          <p:cNvPr id="165" name="matrix-3-0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6" name="Storage"/>
          <p:cNvSpPr txBox="1"/>
          <p:nvPr/>
        </p:nvSpPr>
        <p:spPr>
          <a:xfrm>
            <a:off x="845819" y="39433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Storage</a:t>
            </a:r>
          </a:p>
        </p:txBody>
      </p:sp>
      <p:sp>
        <p:nvSpPr>
          <p:cNvPr id="167" name="matrix-3-1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Object Storage</a:t>
            </a:r>
          </a:p>
        </p:txBody>
      </p:sp>
      <p:sp>
        <p:nvSpPr>
          <p:cNvPr id="168" name="matrix-3-2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Durability, redundancy</a:t>
            </a:r>
          </a:p>
        </p:txBody>
      </p:sp>
      <p:sp>
        <p:nvSpPr>
          <p:cNvPr id="169" name="matrix-3-3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File organization, access rules</a:t>
            </a:r>
          </a:p>
        </p:txBody>
      </p:sp>
      <p:sp>
        <p:nvSpPr>
          <p:cNvPr id="170" name="matrix-3-4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Cheap, scalable storage for datasets</a:t>
            </a:r>
          </a:p>
        </p:txBody>
      </p:sp>
      <p:sp>
        <p:nvSpPr>
          <p:cNvPr id="171" name="matrix-4-0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Monitoring / logs"/>
          <p:cNvSpPr txBox="1"/>
          <p:nvPr/>
        </p:nvSpPr>
        <p:spPr>
          <a:xfrm>
            <a:off x="845819" y="44386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Monitoring / logs</a:t>
            </a:r>
          </a:p>
        </p:txBody>
      </p:sp>
      <p:sp>
        <p:nvSpPr>
          <p:cNvPr id="173" name="matrix-4-1"/>
          <p:cNvSpPr/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SaaS</a:t>
            </a:r>
          </a:p>
        </p:txBody>
      </p:sp>
      <p:sp>
        <p:nvSpPr>
          <p:cNvPr id="174" name="matrix-4-2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Metrics pipeline, alerting</a:t>
            </a:r>
          </a:p>
        </p:txBody>
      </p:sp>
      <p:sp>
        <p:nvSpPr>
          <p:cNvPr id="175" name="matrix-4-3"/>
          <p:cNvSpPr/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Alert thresholds, dashboards</a:t>
            </a:r>
          </a:p>
        </p:txBody>
      </p:sp>
      <p:sp>
        <p:nvSpPr>
          <p:cNvPr id="176" name="matrix-4-4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Tracks model latency and API errors live</a:t>
            </a:r>
          </a:p>
        </p:txBody>
      </p:sp>
      <p:sp>
        <p:nvSpPr>
          <p:cNvPr id="177" name="matrix-5-0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Security / IAM"/>
          <p:cNvSpPr txBox="1"/>
          <p:nvPr/>
        </p:nvSpPr>
        <p:spPr>
          <a:xfrm>
            <a:off x="845819" y="49339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Security / IAM</a:t>
            </a:r>
          </a:p>
        </p:txBody>
      </p:sp>
      <p:sp>
        <p:nvSpPr>
          <p:cNvPr id="179" name="matrix-5-1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PaaS</a:t>
            </a:r>
          </a:p>
        </p:txBody>
      </p:sp>
      <p:sp>
        <p:nvSpPr>
          <p:cNvPr id="180" name="matrix-5-2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Identity infra, encryption at rest</a:t>
            </a:r>
          </a:p>
        </p:txBody>
      </p:sp>
      <p:sp>
        <p:nvSpPr>
          <p:cNvPr id="181" name="matrix-5-3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Role policies, API keys</a:t>
            </a:r>
          </a:p>
        </p:txBody>
      </p:sp>
      <p:sp>
        <p:nvSpPr>
          <p:cNvPr id="182" name="matrix-5-4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/>
          <a:p>
            <a:pPr/>
            <a:r>
              <a:rPr sz="1000" lang="en-US">
                <a:solidFill>
                  <a:srgbClr val="172033"/>
                </a:solidFill>
              </a:rPr>
              <a:t>Restricts access to model and user data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9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92" name="CO1 AT3 | 06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06</a:t>
            </a:r>
          </a:p>
        </p:txBody>
      </p:sp>
      <p:sp>
        <p:nvSpPr>
          <p:cNvPr id="193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Data Flow and Analytics Pipeline</a:t>
            </a:r>
          </a:p>
        </p:txBody>
      </p:sp>
      <p:sp>
        <p:nvSpPr>
          <p:cNvPr id="194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product data moves from user activity to useful insight</a:t>
            </a:r>
          </a:p>
        </p:txBody>
      </p:sp>
      <p:sp>
        <p:nvSpPr>
          <p:cNvPr id="19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96" name="flow-0"/>
          <p:cNvSpPr/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ollect"/>
          <p:cNvSpPr txBox="1"/>
          <p:nvPr/>
        </p:nvSpPr>
        <p:spPr>
          <a:xfrm>
            <a:off x="12458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Collect</a:t>
            </a:r>
          </a:p>
        </p:txBody>
      </p:sp>
      <p:sp>
        <p:nvSpPr>
          <p:cNvPr id="198" name="flow-line-0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flow-1"/>
          <p:cNvSpPr/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Ingest"/>
          <p:cNvSpPr txBox="1"/>
          <p:nvPr/>
        </p:nvSpPr>
        <p:spPr>
          <a:xfrm>
            <a:off x="32270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Ingest</a:t>
            </a:r>
          </a:p>
        </p:txBody>
      </p:sp>
      <p:sp>
        <p:nvSpPr>
          <p:cNvPr id="201" name="flow-line-1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flow-2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Store"/>
          <p:cNvSpPr txBox="1"/>
          <p:nvPr/>
        </p:nvSpPr>
        <p:spPr>
          <a:xfrm>
            <a:off x="52082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Store</a:t>
            </a:r>
          </a:p>
        </p:txBody>
      </p:sp>
      <p:sp>
        <p:nvSpPr>
          <p:cNvPr id="204" name="flow-line-2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flow-3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6" name="Process"/>
          <p:cNvSpPr txBox="1"/>
          <p:nvPr/>
        </p:nvSpPr>
        <p:spPr>
          <a:xfrm>
            <a:off x="71894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Process</a:t>
            </a:r>
          </a:p>
        </p:txBody>
      </p:sp>
      <p:sp>
        <p:nvSpPr>
          <p:cNvPr id="207" name="flow-line-3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flow-4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Visualize"/>
          <p:cNvSpPr txBox="1"/>
          <p:nvPr/>
        </p:nvSpPr>
        <p:spPr>
          <a:xfrm>
            <a:off x="9170669" y="1905000"/>
            <a:ext cx="99441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t>Visualize</a:t>
            </a:r>
          </a:p>
        </p:txBody>
      </p:sp>
      <p:sp>
        <p:nvSpPr>
          <p:cNvPr id="210" name="Data Requirements-panel"/>
          <p:cNvSpPr/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Data Requirements-bar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Data Requirements"/>
          <p:cNvSpPr txBox="1"/>
          <p:nvPr/>
        </p:nvSpPr>
        <p:spPr>
          <a:xfrm>
            <a:off x="9410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Data Requirements</a:t>
            </a:r>
          </a:p>
        </p:txBody>
      </p:sp>
      <p:sp>
        <p:nvSpPr>
          <p:cNvPr id="213" name="User data, events, logs, files, sensor data, or transactions."/>
          <p:cNvSpPr txBox="1"/>
          <p:nvPr/>
        </p:nvSpPr>
        <p:spPr>
          <a:xfrm>
            <a:off x="94106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Article text, source metadata, user reports and shared-link click events.</a:t>
            </a:r>
          </a:p>
        </p:txBody>
      </p:sp>
      <p:sp>
        <p:nvSpPr>
          <p:cNvPr id="214" name="Analytics Requirement-panel"/>
          <p:cNvSpPr/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5" name="Analytics Requirement-bar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6" name="Analytics Requirement"/>
          <p:cNvSpPr txBox="1"/>
          <p:nvPr/>
        </p:nvSpPr>
        <p:spPr>
          <a:xfrm>
            <a:off x="457961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Analytics Requirement</a:t>
            </a:r>
          </a:p>
        </p:txBody>
      </p:sp>
      <p:sp>
        <p:nvSpPr>
          <p:cNvPr id="217" name="Dashboard, alert, prediction, report, trend, or decision support."/>
          <p:cNvSpPr txBox="1"/>
          <p:nvPr/>
        </p:nvSpPr>
        <p:spPr>
          <a:xfrm>
            <a:off x="457961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Live credibility dashboard, misinformation trend report, and share-risk alerts.</a:t>
            </a:r>
          </a:p>
        </p:txBody>
      </p:sp>
      <p:sp>
        <p:nvSpPr>
          <p:cNvPr id="218" name="Proof Required-panel"/>
          <p:cNvSpPr/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9" name="Proof Required-bar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Proof Required"/>
          <p:cNvSpPr txBox="1"/>
          <p:nvPr/>
        </p:nvSpPr>
        <p:spPr>
          <a:xfrm>
            <a:off x="82181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Proof Required</a:t>
            </a:r>
          </a:p>
        </p:txBody>
      </p:sp>
      <p:sp>
        <p:nvSpPr>
          <p:cNvPr id="221" name="Sample input, sample output, and one insight generated."/>
          <p:cNvSpPr txBox="1"/>
          <p:nvPr/>
        </p:nvSpPr>
        <p:spPr>
          <a:xfrm>
            <a:off x="821816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Input: news URL. Output: 0-100 credibility score. Insight: bias source clusters.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9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31" name="CO1 AT3 | 07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07</a:t>
            </a:r>
          </a:p>
        </p:txBody>
      </p:sp>
      <p:sp>
        <p:nvSpPr>
          <p:cNvPr id="232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Python / AI Module Integration</a:t>
            </a:r>
          </a:p>
        </p:txBody>
      </p:sp>
      <p:sp>
        <p:nvSpPr>
          <p:cNvPr id="233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Python or AI adds intelligence where the product needs it</a:t>
            </a:r>
          </a:p>
        </p:txBody>
      </p:sp>
      <p:sp>
        <p:nvSpPr>
          <p:cNvPr id="234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35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Python Rol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Python Role</a:t>
            </a:r>
          </a:p>
        </p:txBody>
      </p:sp>
      <p:sp>
        <p:nvSpPr>
          <p:cNvPr id="238" name="Prediction, automation, analytics, OCR, NLP, or reporting.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NLP credibility scoring, bias detection and automated fact-pattern flagging.</a:t>
            </a:r>
          </a:p>
        </p:txBody>
      </p:sp>
      <p:sp>
        <p:nvSpPr>
          <p:cNvPr id="239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Input and Output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Input and Output</a:t>
            </a:r>
          </a:p>
        </p:txBody>
      </p:sp>
      <p:sp>
        <p:nvSpPr>
          <p:cNvPr id="242" name="What data enters the module and what result comes out?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Article text enters; a credibility score, label and confidence value come out.</a:t>
            </a:r>
          </a:p>
        </p:txBody>
      </p:sp>
      <p:sp>
        <p:nvSpPr>
          <p:cNvPr id="243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Execution Poi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Execution Point</a:t>
            </a:r>
          </a:p>
        </p:txBody>
      </p:sp>
      <p:sp>
        <p:nvSpPr>
          <p:cNvPr id="246" name="API endpoint, serverless function, container, notebook, or scheduled job."/>
          <p:cNvSpPr txBox="1"/>
          <p:nvPr/>
        </p:nvSpPr>
        <p:spPr>
          <a:xfrm>
            <a:off x="9982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REST API endpoint backed by a containerized BERT inference service.</a:t>
            </a:r>
          </a:p>
        </p:txBody>
      </p:sp>
      <p:sp>
        <p:nvSpPr>
          <p:cNvPr id="247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Product Value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Value</a:t>
            </a:r>
          </a:p>
        </p:txBody>
      </p:sp>
      <p:sp>
        <p:nvSpPr>
          <p:cNvPr id="250" name="How does this module improve user experience or decision-making?"/>
          <p:cNvSpPr txBox="1"/>
          <p:nvPr/>
        </p:nvSpPr>
        <p:spPr>
          <a:xfrm>
            <a:off x="64084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Readers judge trust in seconds instead of researching sources manually.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5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60" name="CO1 AT3 | 08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08</a:t>
            </a:r>
          </a:p>
        </p:txBody>
      </p:sp>
      <p:sp>
        <p:nvSpPr>
          <p:cNvPr id="261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Security, Scalability, Privacy and Cost Design</a:t>
            </a:r>
          </a:p>
        </p:txBody>
      </p:sp>
      <p:sp>
        <p:nvSpPr>
          <p:cNvPr id="262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Security, scale, privacy and cost shape the final design</a:t>
            </a:r>
          </a:p>
        </p:txBody>
      </p:sp>
      <p:sp>
        <p:nvSpPr>
          <p:cNvPr id="263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4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6" name="Security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267" name="Authentication, roles, validation, audit trail.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JWT authentication, role-based access, input validation, audit trail.</a:t>
            </a:r>
          </a:p>
        </p:txBody>
      </p:sp>
      <p:sp>
        <p:nvSpPr>
          <p:cNvPr id="268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Privacy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Privacy</a:t>
            </a:r>
          </a:p>
        </p:txBody>
      </p:sp>
      <p:sp>
        <p:nvSpPr>
          <p:cNvPr id="271" name="Sensitive data, consent, anonymization, access limits.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Anonymized reporter identities; no personal reader data stored.</a:t>
            </a:r>
          </a:p>
        </p:txBody>
      </p:sp>
      <p:sp>
        <p:nvSpPr>
          <p:cNvPr id="272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3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Scalability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Scalability</a:t>
            </a:r>
          </a:p>
        </p:txBody>
      </p:sp>
      <p:sp>
        <p:nvSpPr>
          <p:cNvPr id="275" name="How will users grow without redesign?"/>
          <p:cNvSpPr txBox="1"/>
          <p:nvPr/>
        </p:nvSpPr>
        <p:spPr>
          <a:xfrm>
            <a:off x="9982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Stateless API and managed NLP inference auto-scale with reader traffic.</a:t>
            </a:r>
          </a:p>
        </p:txBody>
      </p:sp>
      <p:sp>
        <p:nvSpPr>
          <p:cNvPr id="276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Cost Awareness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Cost Awareness</a:t>
            </a:r>
          </a:p>
        </p:txBody>
      </p:sp>
      <p:sp>
        <p:nvSpPr>
          <p:cNvPr id="279" name="Free tier, managed services, storage/API usage limits."/>
          <p:cNvSpPr txBox="1"/>
          <p:nvPr/>
        </p:nvSpPr>
        <p:spPr>
          <a:xfrm>
            <a:off x="64084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Free-tier compute, managed database, and capped NLP inference calls.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89" name="CO1 AT3 | 09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09</a:t>
            </a:r>
          </a:p>
        </p:txBody>
      </p:sp>
      <p:sp>
        <p:nvSpPr>
          <p:cNvPr id="29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Implementation Stack and Deployment Evidence</a:t>
            </a:r>
          </a:p>
        </p:txBody>
      </p:sp>
      <p:sp>
        <p:nvSpPr>
          <p:cNvPr id="29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implementation stack shows how the design will be built</a:t>
            </a:r>
          </a:p>
        </p:txBody>
      </p:sp>
      <p:sp>
        <p:nvSpPr>
          <p:cNvPr id="29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93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Mobile / Web Layer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Mobile / Web Layer</a:t>
            </a:r>
          </a:p>
        </p:txBody>
      </p:sp>
      <p:sp>
        <p:nvSpPr>
          <p:cNvPr id="296" name="Android, iOS, Flutter, React, or web frontend.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React web dashboard and a lightweight Chrome browser extension.</a:t>
            </a:r>
          </a:p>
        </p:txBody>
      </p:sp>
      <p:sp>
        <p:nvSpPr>
          <p:cNvPr id="297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9" name="Cloud Service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Services</a:t>
            </a:r>
          </a:p>
        </p:txBody>
      </p:sp>
      <p:sp>
        <p:nvSpPr>
          <p:cNvPr id="300" name="Compute, database, storage, authentication, analytics, API tools.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AWS Lambda, RDS, S3, Cognito auth, CloudWatch analytics, API Gateway.</a:t>
            </a:r>
          </a:p>
        </p:txBody>
      </p:sp>
      <p:sp>
        <p:nvSpPr>
          <p:cNvPr id="301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Evidence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Evidence</a:t>
            </a:r>
          </a:p>
        </p:txBody>
      </p:sp>
      <p:sp>
        <p:nvSpPr>
          <p:cNvPr id="304" name="GitHub, API test, cloud dashboard, endpoint, logs, or deployment URL."/>
          <p:cNvSpPr txBox="1"/>
          <p:nvPr/>
        </p:nvSpPr>
        <p:spPr>
          <a:xfrm>
            <a:off x="9982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GitHub repo, Postman API tests, live deployment URL and CloudWatch logs.</a:t>
            </a:r>
          </a:p>
        </p:txBody>
      </p:sp>
      <p:sp>
        <p:nvSpPr>
          <p:cNvPr id="305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6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Version Control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Version Control</a:t>
            </a:r>
          </a:p>
        </p:txBody>
      </p:sp>
      <p:sp>
        <p:nvSpPr>
          <p:cNvPr id="308" name="Repository structure, commits, branches, and README clarity."/>
          <p:cNvSpPr txBox="1"/>
          <p:nvPr/>
        </p:nvSpPr>
        <p:spPr>
          <a:xfrm>
            <a:off x="64084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Modular repo with feature branches, clear commits and a setup README.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5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18" name="CO1 AT3 | 10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10</a:t>
            </a:r>
          </a:p>
        </p:txBody>
      </p:sp>
      <p:sp>
        <p:nvSpPr>
          <p:cNvPr id="319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Demo Storyboard and User Journey</a:t>
            </a:r>
          </a:p>
        </p:txBody>
      </p:sp>
      <p:sp>
        <p:nvSpPr>
          <p:cNvPr id="320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A complete user journey proves the product flow</a:t>
            </a:r>
          </a:p>
        </p:txBody>
      </p:sp>
      <p:sp>
        <p:nvSpPr>
          <p:cNvPr id="321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22" name="scene-0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Scene 1"/>
          <p:cNvSpPr txBox="1"/>
          <p:nvPr/>
        </p:nvSpPr>
        <p:spPr>
          <a:xfrm>
            <a:off x="9410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1</a:t>
            </a:r>
          </a:p>
        </p:txBody>
      </p:sp>
      <p:sp>
        <p:nvSpPr>
          <p:cNvPr id="324" name="User action -&gt; system response -&gt; cloud component touched"/>
          <p:cNvSpPr txBox="1"/>
          <p:nvPr/>
        </p:nvSpPr>
        <p:spPr>
          <a:xfrm>
            <a:off x="941069" y="209550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Reader pastes a news article URL -&gt; API Gateway routes request -&gt; Lambda triggers NLP engine</a:t>
            </a:r>
          </a:p>
        </p:txBody>
      </p:sp>
      <p:sp>
        <p:nvSpPr>
          <p:cNvPr id="325" name="scene-1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Scene 2"/>
          <p:cNvSpPr txBox="1"/>
          <p:nvPr/>
        </p:nvSpPr>
        <p:spPr>
          <a:xfrm>
            <a:off x="457961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2</a:t>
            </a:r>
          </a:p>
        </p:txBody>
      </p:sp>
      <p:sp>
        <p:nvSpPr>
          <p:cNvPr id="327" name="User action -&gt; system response -&gt; cloud component touched"/>
          <p:cNvSpPr txBox="1"/>
          <p:nvPr/>
        </p:nvSpPr>
        <p:spPr>
          <a:xfrm>
            <a:off x="4579619" y="209550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NLP engine (BERT) analyzes text -&gt; generates credibility score -&gt; stored in RDS database</a:t>
            </a:r>
          </a:p>
        </p:txBody>
      </p:sp>
      <p:sp>
        <p:nvSpPr>
          <p:cNvPr id="328" name="scene-2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Scene 3"/>
          <p:cNvSpPr txBox="1"/>
          <p:nvPr/>
        </p:nvSpPr>
        <p:spPr>
          <a:xfrm>
            <a:off x="82181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3</a:t>
            </a:r>
          </a:p>
        </p:txBody>
      </p:sp>
      <p:sp>
        <p:nvSpPr>
          <p:cNvPr id="330" name="User action -&gt; system response -&gt; cloud component touched"/>
          <p:cNvSpPr txBox="1"/>
          <p:nvPr/>
        </p:nvSpPr>
        <p:spPr>
          <a:xfrm>
            <a:off x="8218169" y="209550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Dashboard fetches score via API -&gt; displays 0-100 trust rating -&gt; highlights bias indicators</a:t>
            </a:r>
          </a:p>
        </p:txBody>
      </p:sp>
      <p:sp>
        <p:nvSpPr>
          <p:cNvPr id="331" name="scene-3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Scene 4"/>
          <p:cNvSpPr txBox="1"/>
          <p:nvPr/>
        </p:nvSpPr>
        <p:spPr>
          <a:xfrm>
            <a:off x="9410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4</a:t>
            </a:r>
          </a:p>
        </p:txBody>
      </p:sp>
      <p:sp>
        <p:nvSpPr>
          <p:cNvPr id="333" name="User action -&gt; system response -&gt; cloud component touched"/>
          <p:cNvSpPr txBox="1"/>
          <p:nvPr/>
        </p:nvSpPr>
        <p:spPr>
          <a:xfrm>
            <a:off x="941069" y="382905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User shares link on social media -&gt; browser extension intercepts -&gt; queries credibility API</a:t>
            </a:r>
          </a:p>
        </p:txBody>
      </p:sp>
      <p:sp>
        <p:nvSpPr>
          <p:cNvPr id="334" name="scene-4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Scene 5"/>
          <p:cNvSpPr txBox="1"/>
          <p:nvPr/>
        </p:nvSpPr>
        <p:spPr>
          <a:xfrm>
            <a:off x="457961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5</a:t>
            </a:r>
          </a:p>
        </p:txBody>
      </p:sp>
      <p:sp>
        <p:nvSpPr>
          <p:cNvPr id="336" name="User action -&gt; system response -&gt; cloud component touched"/>
          <p:cNvSpPr txBox="1"/>
          <p:nvPr/>
        </p:nvSpPr>
        <p:spPr>
          <a:xfrm>
            <a:off x="4579619" y="382905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Extension shows warning banner -&gt; user views source-credibility breakdown -&gt; cloud logs the check</a:t>
            </a:r>
          </a:p>
        </p:txBody>
      </p:sp>
      <p:sp>
        <p:nvSpPr>
          <p:cNvPr id="337" name="scene-5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8" name="Scene 6"/>
          <p:cNvSpPr txBox="1"/>
          <p:nvPr/>
        </p:nvSpPr>
        <p:spPr>
          <a:xfrm>
            <a:off x="82181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6</a:t>
            </a:r>
          </a:p>
        </p:txBody>
      </p:sp>
      <p:sp>
        <p:nvSpPr>
          <p:cNvPr id="339" name="User action -&gt; system response -&gt; cloud component touched"/>
          <p:cNvSpPr txBox="1"/>
          <p:nvPr/>
        </p:nvSpPr>
        <p:spPr>
          <a:xfrm>
            <a:off x="8218169" y="382905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Moderator reviews flagged articles -&gt; confirms or overrides score -&gt; CloudWatch logs the decision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49" name="CO1 AT3 | 1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11</a:t>
            </a:r>
          </a:p>
        </p:txBody>
      </p:sp>
      <p:sp>
        <p:nvSpPr>
          <p:cNvPr id="35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Evaluation Readiness Checklist</a:t>
            </a:r>
          </a:p>
        </p:txBody>
      </p:sp>
      <p:sp>
        <p:nvSpPr>
          <p:cNvPr id="35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evidence confirms that the presentation is ready</a:t>
            </a:r>
          </a:p>
        </p:txBody>
      </p:sp>
      <p:sp>
        <p:nvSpPr>
          <p:cNvPr id="35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53" name="check-0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4" name="box-0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5" name="Cloud ecosystem and service model explained"/>
          <p:cNvSpPr txBox="1"/>
          <p:nvPr/>
        </p:nvSpPr>
        <p:spPr>
          <a:xfrm>
            <a:off x="162686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Cloud ecosystem and service model explained</a:t>
            </a:r>
          </a:p>
        </p:txBody>
      </p:sp>
      <p:sp>
        <p:nvSpPr>
          <p:cNvPr id="356" name="check-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7" name="box-1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8" name="REST/SOAP/API role connected to capstone"/>
          <p:cNvSpPr txBox="1"/>
          <p:nvPr/>
        </p:nvSpPr>
        <p:spPr>
          <a:xfrm>
            <a:off x="162686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REST/SOAP/API role connected to capstone</a:t>
            </a:r>
          </a:p>
        </p:txBody>
      </p:sp>
      <p:sp>
        <p:nvSpPr>
          <p:cNvPr id="359" name="check-2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0" name="box-2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1" name="Architecture has compute, data, storage, security, monitoring"/>
          <p:cNvSpPr txBox="1"/>
          <p:nvPr/>
        </p:nvSpPr>
        <p:spPr>
          <a:xfrm>
            <a:off x="1626869" y="3924300"/>
            <a:ext cx="37185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Architecture has compute, data, storage, security, monitoring</a:t>
            </a:r>
          </a:p>
        </p:txBody>
      </p:sp>
      <p:sp>
        <p:nvSpPr>
          <p:cNvPr id="362" name="check-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3" name="box-3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4" name="Elasticity and scalability decisions are visible"/>
          <p:cNvSpPr txBox="1"/>
          <p:nvPr/>
        </p:nvSpPr>
        <p:spPr>
          <a:xfrm>
            <a:off x="724661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Elasticity and scalability decisions are visible</a:t>
            </a:r>
          </a:p>
        </p:txBody>
      </p:sp>
      <p:sp>
        <p:nvSpPr>
          <p:cNvPr id="365" name="check-4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6" name="box-4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7" name="GitHub and cloud evidence are inspectable"/>
          <p:cNvSpPr txBox="1"/>
          <p:nvPr/>
        </p:nvSpPr>
        <p:spPr>
          <a:xfrm>
            <a:off x="724661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GitHub and cloud evidence are inspectable</a:t>
            </a:r>
          </a:p>
        </p:txBody>
      </p:sp>
      <p:sp>
        <p:nvSpPr>
          <p:cNvPr id="368" name="check-5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9" name="box-5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0" name="References and integrity statement are included"/>
          <p:cNvSpPr txBox="1"/>
          <p:nvPr/>
        </p:nvSpPr>
        <p:spPr>
          <a:xfrm>
            <a:off x="7246619" y="39243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References and integrity statement are included</a:t>
            </a:r>
          </a:p>
        </p:txBody>
      </p:sp>
      <p:sp>
        <p:nvSpPr>
          <p:cNvPr id="371" name="Evaluator Focus-panel"/>
          <p:cNvSpPr/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72" name="Evaluator Focus-bar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Evaluator Focus"/>
          <p:cNvSpPr txBox="1"/>
          <p:nvPr/>
        </p:nvSpPr>
        <p:spPr>
          <a:xfrm>
            <a:off x="2312669" y="5143500"/>
            <a:ext cx="75666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Evaluator Focus</a:t>
            </a:r>
          </a:p>
        </p:txBody>
      </p:sp>
      <p:sp>
        <p:nvSpPr>
          <p:cNvPr id="374" name="CO1 is verified through cloud design reasoning, service choices, evidence, and individual explanation."/>
          <p:cNvSpPr txBox="1"/>
          <p:nvPr/>
        </p:nvSpPr>
        <p:spPr>
          <a:xfrm>
            <a:off x="2312669" y="5524500"/>
            <a:ext cx="75666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72033"/>
                </a:solidFill>
              </a:defRPr>
            </a:lvl1pPr>
          </a:lstStyle>
          <a:p>
            <a:r>
              <a:t>CO1 is verified through cloud design reasoning, service choices, evidence, and individual explanation.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8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84" name="CO1 AT3 | 1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12</a:t>
            </a:r>
          </a:p>
        </p:txBody>
      </p:sp>
      <p:sp>
        <p:nvSpPr>
          <p:cNvPr id="385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Conclusion, Limitations and Future Scope</a:t>
            </a:r>
          </a:p>
        </p:txBody>
      </p:sp>
      <p:sp>
        <p:nvSpPr>
          <p:cNvPr id="386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We close with learning, limitations and next steps</a:t>
            </a:r>
          </a:p>
        </p:txBody>
      </p:sp>
      <p:sp>
        <p:nvSpPr>
          <p:cNvPr id="387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88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9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Learning Outcom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Learning Outcome</a:t>
            </a:r>
          </a:p>
        </p:txBody>
      </p:sp>
      <p:sp>
        <p:nvSpPr>
          <p:cNvPr id="391" name="What cloud concepts did the project make clear?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Elasticity, managed NLP services, and responsibility-sharing across cloud layers.</a:t>
            </a:r>
          </a:p>
        </p:txBody>
      </p:sp>
      <p:sp>
        <p:nvSpPr>
          <p:cNvPr id="392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3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Limitation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Limitations</a:t>
            </a:r>
          </a:p>
        </p:txBody>
      </p:sp>
      <p:sp>
        <p:nvSpPr>
          <p:cNvPr id="395" name="What remains incomplete or needs improvement?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Multilingual support and deeper source-history bias analysis are incomplete.</a:t>
            </a:r>
          </a:p>
        </p:txBody>
      </p:sp>
      <p:sp>
        <p:nvSpPr>
          <p:cNvPr id="396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7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Future Improveme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Future Improvement</a:t>
            </a:r>
          </a:p>
        </p:txBody>
      </p:sp>
      <p:sp>
        <p:nvSpPr>
          <p:cNvPr id="399" name="What will be improved before final capstone review?"/>
          <p:cNvSpPr txBox="1"/>
          <p:nvPr/>
        </p:nvSpPr>
        <p:spPr>
          <a:xfrm>
            <a:off x="9982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Add multilingual scoring and a browser-extension real-time warning banner.</a:t>
            </a:r>
          </a:p>
        </p:txBody>
      </p:sp>
      <p:sp>
        <p:nvSpPr>
          <p:cNvPr id="400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Integrity Statement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Integrity Statement</a:t>
            </a:r>
          </a:p>
        </p:txBody>
      </p:sp>
      <p:sp>
        <p:nvSpPr>
          <p:cNvPr id="403" name="Mention sources, tools, datasets, and any AI assistance acknowledged."/>
          <p:cNvSpPr txBox="1"/>
          <p:nvPr/>
        </p:nvSpPr>
        <p:spPr>
          <a:xfrm>
            <a:off x="64084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Datasets: LIAR, FakeNewsNet. Tools: AWS, HuggingFace. AI-assisted code review acknowledged.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Dheepak</dc:creator>
  <cp:lastModifiedBy>Dheepak K</cp:lastModifiedBy>
  <cp:revision>1</cp:revision>
  <dcterms:modified xsi:type="dcterms:W3CDTF">2026-07-21T03:01:43Z</dcterms:modified>
</cp:coreProperties>
</file>